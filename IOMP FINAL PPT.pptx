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4" r:id="rId3"/>
    <p:sldId id="268" r:id="rId4"/>
    <p:sldId id="269" r:id="rId5"/>
    <p:sldId id="270" r:id="rId6"/>
    <p:sldId id="277" r:id="rId7"/>
    <p:sldId id="271" r:id="rId8"/>
    <p:sldId id="272" r:id="rId9"/>
    <p:sldId id="273" r:id="rId10"/>
    <p:sldId id="274" r:id="rId11"/>
    <p:sldId id="276"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75" d="100"/>
          <a:sy n="75" d="100"/>
        </p:scale>
        <p:origin x="931" y="40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B5AA6-5626-3968-7483-03718F499F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6BF0D9-D08A-36F3-F5CE-C13A72F4D8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C557E9-66E6-1FF3-1081-7C4E0630AA08}"/>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5" name="Footer Placeholder 4">
            <a:extLst>
              <a:ext uri="{FF2B5EF4-FFF2-40B4-BE49-F238E27FC236}">
                <a16:creationId xmlns:a16="http://schemas.microsoft.com/office/drawing/2014/main" id="{66812EC6-3DE7-A9F8-E056-7F8FEF904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FE7D3-9568-F8F6-F3E4-8B94690C05E5}"/>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1041389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E972-1789-4956-DDED-0DC1A98172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330513-F45D-24AD-EC8F-7D2AC22430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C50BE7-59A2-5FB6-5BD8-9FBC66305CF3}"/>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5" name="Footer Placeholder 4">
            <a:extLst>
              <a:ext uri="{FF2B5EF4-FFF2-40B4-BE49-F238E27FC236}">
                <a16:creationId xmlns:a16="http://schemas.microsoft.com/office/drawing/2014/main" id="{4685B2E0-2572-DD6B-1EEE-DDA44A9BA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B9A205-783C-E506-9702-947DD2F161BE}"/>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2225780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6BCF6-01C0-04C2-08CB-50949A028D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93D071-DF31-7D01-0750-3F3536600B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9E47DC-324D-8FD3-D2CA-9F37F23FC18D}"/>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5" name="Footer Placeholder 4">
            <a:extLst>
              <a:ext uri="{FF2B5EF4-FFF2-40B4-BE49-F238E27FC236}">
                <a16:creationId xmlns:a16="http://schemas.microsoft.com/office/drawing/2014/main" id="{70E0C631-F837-1227-83E7-168AA51385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F9CC14-4E24-C214-6D7E-3DC5802B0A2C}"/>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3572840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187E-9047-D2FC-3535-804D17061C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9DA674-0E02-621B-253F-62EA31EC12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B6D2E6-0D6E-6CB1-ACB4-7357BA69B3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04C39F-4060-6D7F-5D3E-FBEC6313B6CE}"/>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6" name="Footer Placeholder 5">
            <a:extLst>
              <a:ext uri="{FF2B5EF4-FFF2-40B4-BE49-F238E27FC236}">
                <a16:creationId xmlns:a16="http://schemas.microsoft.com/office/drawing/2014/main" id="{53823B72-4244-BF09-3896-9DC008960A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34736C-AAA5-4B13-7528-36D2EAC58780}"/>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478291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29340-50BF-AD63-490E-42CA261268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011C13-28AF-CCE7-B3FA-5412BBCE5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449ED6-3E89-7E38-8BFD-775102E67D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29BE80-4047-42FB-0A72-BA9325F645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49AA71-16FF-9E64-C6FF-A615E5300B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D92739-5034-9D25-4B54-B26662030697}"/>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8" name="Footer Placeholder 7">
            <a:extLst>
              <a:ext uri="{FF2B5EF4-FFF2-40B4-BE49-F238E27FC236}">
                <a16:creationId xmlns:a16="http://schemas.microsoft.com/office/drawing/2014/main" id="{59F152B9-04D2-06C5-77E4-377F0C6F2D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FA3993-F8E3-73B7-2C2C-AD54BE69EEAC}"/>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841920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2503-CC8F-CA7E-52BC-04F0244FFD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6F0FD9-DA76-5A19-4FD2-2C38655A2157}"/>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4" name="Footer Placeholder 3">
            <a:extLst>
              <a:ext uri="{FF2B5EF4-FFF2-40B4-BE49-F238E27FC236}">
                <a16:creationId xmlns:a16="http://schemas.microsoft.com/office/drawing/2014/main" id="{A5C043A4-FECB-1F83-561B-0453EF4643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3420FD-1D0B-86E5-8A16-3185FC8DCC3E}"/>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3131763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B83717-2F05-D855-6D99-CDD314C71734}"/>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3" name="Footer Placeholder 2">
            <a:extLst>
              <a:ext uri="{FF2B5EF4-FFF2-40B4-BE49-F238E27FC236}">
                <a16:creationId xmlns:a16="http://schemas.microsoft.com/office/drawing/2014/main" id="{A76FFF8E-426A-DCF8-6444-5B9E57A981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70D5F6-E349-E1AE-4727-7899E203CC45}"/>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262482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4F6D-87E8-3927-B236-21E31A2987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14CDF8-004C-8DD2-7124-BEE97AC550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CE792B-7C22-D3F7-1DBF-BDACA09CC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5E09B6-2198-9BC9-8C35-14EA17551D8F}"/>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6" name="Footer Placeholder 5">
            <a:extLst>
              <a:ext uri="{FF2B5EF4-FFF2-40B4-BE49-F238E27FC236}">
                <a16:creationId xmlns:a16="http://schemas.microsoft.com/office/drawing/2014/main" id="{A3DD1DF1-5C85-9537-3358-6B0D866F95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739DEC-BE82-EED8-8985-1516655AA1B0}"/>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265201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4638F-6AFB-6480-F875-D36BC575D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A842B9-B0E2-01EF-A001-9AFD8017F7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FE0C00-9000-72E5-C7F8-2685B88DF0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3B97AC-DE53-D8D1-D3E5-05E5469296C7}"/>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6" name="Footer Placeholder 5">
            <a:extLst>
              <a:ext uri="{FF2B5EF4-FFF2-40B4-BE49-F238E27FC236}">
                <a16:creationId xmlns:a16="http://schemas.microsoft.com/office/drawing/2014/main" id="{083768F9-9495-3B2F-27BE-5422D54A13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D2DE2E-B4C8-ED9F-2819-B0C26DB3ADF3}"/>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879677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EE494-6E45-AF2E-CD01-5A8009C575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9F5D0D-6A8D-175A-3A4C-0580FAFFCE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96689A-A73D-82A9-028E-B8E5CA856FEB}"/>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5" name="Footer Placeholder 4">
            <a:extLst>
              <a:ext uri="{FF2B5EF4-FFF2-40B4-BE49-F238E27FC236}">
                <a16:creationId xmlns:a16="http://schemas.microsoft.com/office/drawing/2014/main" id="{220CBEF9-D037-A7CC-2217-AD2B6C7ACA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E30F1D-DC2B-F15B-12AA-DD67938C05DD}"/>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289963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75995B-7919-F51E-D8D8-9E32733589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794C41-3771-AF60-3077-C8131A5C1E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EF1AB6-7647-522D-B0CC-DFD5F10D84E1}"/>
              </a:ext>
            </a:extLst>
          </p:cNvPr>
          <p:cNvSpPr>
            <a:spLocks noGrp="1"/>
          </p:cNvSpPr>
          <p:nvPr>
            <p:ph type="dt" sz="half" idx="10"/>
          </p:nvPr>
        </p:nvSpPr>
        <p:spPr/>
        <p:txBody>
          <a:bodyPr/>
          <a:lstStyle/>
          <a:p>
            <a:fld id="{0F8F7345-74C5-4D3D-B1AE-7886B41EDBD6}" type="datetimeFigureOut">
              <a:rPr lang="en-IN" smtClean="0"/>
              <a:t>19-06-2026</a:t>
            </a:fld>
            <a:endParaRPr lang="en-IN"/>
          </a:p>
        </p:txBody>
      </p:sp>
      <p:sp>
        <p:nvSpPr>
          <p:cNvPr id="5" name="Footer Placeholder 4">
            <a:extLst>
              <a:ext uri="{FF2B5EF4-FFF2-40B4-BE49-F238E27FC236}">
                <a16:creationId xmlns:a16="http://schemas.microsoft.com/office/drawing/2014/main" id="{B14BE71F-D21D-787E-5CE4-ECB1396A89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D35141-4438-29C6-CFA8-F3490D0D1895}"/>
              </a:ext>
            </a:extLst>
          </p:cNvPr>
          <p:cNvSpPr>
            <a:spLocks noGrp="1"/>
          </p:cNvSpPr>
          <p:nvPr>
            <p:ph type="sldNum" sz="quarter" idx="12"/>
          </p:nvPr>
        </p:nvSpPr>
        <p:spPr/>
        <p:txBody>
          <a:bodyPr/>
          <a:lstStyle/>
          <a:p>
            <a:fld id="{7DA3AF12-5912-4D93-AB86-5511C3BC2978}" type="slidenum">
              <a:rPr lang="en-IN" smtClean="0"/>
              <a:t>‹#›</a:t>
            </a:fld>
            <a:endParaRPr lang="en-IN"/>
          </a:p>
        </p:txBody>
      </p:sp>
    </p:spTree>
    <p:extLst>
      <p:ext uri="{BB962C8B-B14F-4D97-AF65-F5344CB8AC3E}">
        <p14:creationId xmlns:p14="http://schemas.microsoft.com/office/powerpoint/2010/main" val="1093727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62F9E-93CF-036D-48CE-55D7BCEF62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BD4658-2437-46D4-6799-82CE80444E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8574B1-B175-B86C-5514-67EEDE2E3F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F7345-74C5-4D3D-B1AE-7886B41EDBD6}" type="datetimeFigureOut">
              <a:rPr lang="en-IN" smtClean="0"/>
              <a:t>19-06-2026</a:t>
            </a:fld>
            <a:endParaRPr lang="en-IN"/>
          </a:p>
        </p:txBody>
      </p:sp>
      <p:sp>
        <p:nvSpPr>
          <p:cNvPr id="5" name="Footer Placeholder 4">
            <a:extLst>
              <a:ext uri="{FF2B5EF4-FFF2-40B4-BE49-F238E27FC236}">
                <a16:creationId xmlns:a16="http://schemas.microsoft.com/office/drawing/2014/main" id="{6019AC75-2D53-3A12-9886-4513C49637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BF1F94-9E38-63E9-63B7-242313DFB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A3AF12-5912-4D93-AB86-5511C3BC2978}" type="slidenum">
              <a:rPr lang="en-IN" smtClean="0"/>
              <a:t>‹#›</a:t>
            </a:fld>
            <a:endParaRPr lang="en-IN"/>
          </a:p>
        </p:txBody>
      </p:sp>
    </p:spTree>
    <p:extLst>
      <p:ext uri="{BB962C8B-B14F-4D97-AF65-F5344CB8AC3E}">
        <p14:creationId xmlns:p14="http://schemas.microsoft.com/office/powerpoint/2010/main" val="558071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237BD9-00F5-9618-A311-AFDF4866A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514168"/>
          </a:xfrm>
          <a:prstGeom prst="rect">
            <a:avLst/>
          </a:prstGeom>
        </p:spPr>
      </p:pic>
      <p:sp>
        <p:nvSpPr>
          <p:cNvPr id="5" name="TextBox 4">
            <a:extLst>
              <a:ext uri="{FF2B5EF4-FFF2-40B4-BE49-F238E27FC236}">
                <a16:creationId xmlns:a16="http://schemas.microsoft.com/office/drawing/2014/main" id="{10266A31-EB4B-324F-CA07-870AF3C7204E}"/>
              </a:ext>
            </a:extLst>
          </p:cNvPr>
          <p:cNvSpPr txBox="1"/>
          <p:nvPr/>
        </p:nvSpPr>
        <p:spPr>
          <a:xfrm>
            <a:off x="287080" y="1471286"/>
            <a:ext cx="11802140" cy="1200329"/>
          </a:xfrm>
          <a:prstGeom prst="rect">
            <a:avLst/>
          </a:prstGeom>
          <a:noFill/>
        </p:spPr>
        <p:txBody>
          <a:bodyPr wrap="square" rtlCol="0">
            <a:spAutoFit/>
          </a:bodyPr>
          <a:lstStyle/>
          <a:p>
            <a:pPr algn="ctr"/>
            <a:r>
              <a:rPr lang="en-US" sz="2400" b="1" dirty="0">
                <a:solidFill>
                  <a:schemeClr val="accent1">
                    <a:lumMod val="75000"/>
                  </a:schemeClr>
                </a:solidFill>
              </a:rPr>
              <a:t>DEPARTMENT OF ELECTRONICS AND COMMUNICATION ENGINEERING</a:t>
            </a:r>
          </a:p>
          <a:p>
            <a:pPr algn="ctr"/>
            <a:r>
              <a:rPr lang="en-US" sz="2400" b="1" dirty="0"/>
              <a:t>Course : </a:t>
            </a:r>
            <a:r>
              <a:rPr lang="en-US" sz="2400" dirty="0"/>
              <a:t>Industrial Oriented Mini Project (IOMP)</a:t>
            </a:r>
            <a:br>
              <a:rPr lang="en-US" sz="2400" dirty="0"/>
            </a:br>
            <a:r>
              <a:rPr lang="en-US" sz="2400" b="1" dirty="0"/>
              <a:t>Course Code:</a:t>
            </a:r>
            <a:r>
              <a:rPr lang="en-US" sz="2400" dirty="0"/>
              <a:t> ES653PC</a:t>
            </a:r>
            <a:endParaRPr lang="en-IN" sz="2400" dirty="0"/>
          </a:p>
        </p:txBody>
      </p:sp>
      <p:sp>
        <p:nvSpPr>
          <p:cNvPr id="6" name="TextBox 5">
            <a:extLst>
              <a:ext uri="{FF2B5EF4-FFF2-40B4-BE49-F238E27FC236}">
                <a16:creationId xmlns:a16="http://schemas.microsoft.com/office/drawing/2014/main" id="{8ADA90B3-E99C-FBB4-70AF-2DFE4E316DD3}"/>
              </a:ext>
            </a:extLst>
          </p:cNvPr>
          <p:cNvSpPr txBox="1"/>
          <p:nvPr/>
        </p:nvSpPr>
        <p:spPr>
          <a:xfrm>
            <a:off x="1081548" y="2643053"/>
            <a:ext cx="10078065" cy="1908215"/>
          </a:xfrm>
          <a:prstGeom prst="rect">
            <a:avLst/>
          </a:prstGeom>
          <a:noFill/>
        </p:spPr>
        <p:txBody>
          <a:bodyPr wrap="square" rtlCol="0">
            <a:spAutoFit/>
          </a:bodyPr>
          <a:lstStyle/>
          <a:p>
            <a:pPr algn="ctr"/>
            <a:r>
              <a:rPr lang="en-IN" sz="2800" b="1" spc="-1" dirty="0">
                <a:solidFill>
                  <a:srgbClr val="000000"/>
                </a:solidFill>
                <a:ea typeface="新細明體"/>
              </a:rPr>
              <a:t>AUTOMATED SLOT PARKING WITH BOOKING SYSTEM USING MOBILE APPLICATION</a:t>
            </a:r>
            <a:r>
              <a:rPr lang="en-IN" sz="2800" b="1" spc="-1" dirty="0">
                <a:solidFill>
                  <a:srgbClr val="FF0000"/>
                </a:solidFill>
                <a:ea typeface="新細明體"/>
              </a:rPr>
              <a:t> </a:t>
            </a:r>
            <a:endParaRPr lang="en-IN" sz="2800" b="0" strike="noStrike" spc="-1" dirty="0">
              <a:latin typeface="Arial"/>
            </a:endParaRPr>
          </a:p>
          <a:p>
            <a:pPr algn="ctr"/>
            <a:endParaRPr lang="en-IN" sz="4400" b="1" dirty="0">
              <a:solidFill>
                <a:schemeClr val="tx1">
                  <a:lumMod val="95000"/>
                  <a:lumOff val="5000"/>
                </a:schemeClr>
              </a:solidFill>
            </a:endParaRPr>
          </a:p>
          <a:p>
            <a:endParaRPr lang="en-IN" dirty="0"/>
          </a:p>
        </p:txBody>
      </p:sp>
      <p:sp>
        <p:nvSpPr>
          <p:cNvPr id="8" name="TextBox 7">
            <a:extLst>
              <a:ext uri="{FF2B5EF4-FFF2-40B4-BE49-F238E27FC236}">
                <a16:creationId xmlns:a16="http://schemas.microsoft.com/office/drawing/2014/main" id="{B1F35CC3-9380-A8A3-F67C-EB5741F99C7D}"/>
              </a:ext>
            </a:extLst>
          </p:cNvPr>
          <p:cNvSpPr txBox="1"/>
          <p:nvPr/>
        </p:nvSpPr>
        <p:spPr>
          <a:xfrm>
            <a:off x="581025" y="3651148"/>
            <a:ext cx="10742664" cy="1569660"/>
          </a:xfrm>
          <a:prstGeom prst="rect">
            <a:avLst/>
          </a:prstGeom>
          <a:noFill/>
        </p:spPr>
        <p:txBody>
          <a:bodyPr wrap="square" rtlCol="0">
            <a:spAutoFit/>
          </a:bodyPr>
          <a:lstStyle/>
          <a:p>
            <a:r>
              <a:rPr lang="en-US" sz="2400" b="1" dirty="0"/>
              <a:t>	Batch-6						 Under the guidance of</a:t>
            </a:r>
          </a:p>
          <a:p>
            <a:r>
              <a:rPr lang="en-US" sz="2400" dirty="0"/>
              <a:t>M.Pravalika-23261A04F9					          </a:t>
            </a:r>
            <a:r>
              <a:rPr lang="en-US" sz="2400" dirty="0" err="1"/>
              <a:t>Dr.S.Praveena</a:t>
            </a:r>
            <a:endParaRPr lang="en-US" sz="2400" dirty="0"/>
          </a:p>
          <a:p>
            <a:r>
              <a:rPr lang="en-US" sz="2400" dirty="0" err="1"/>
              <a:t>P.Saaketha</a:t>
            </a:r>
            <a:r>
              <a:rPr lang="en-US" sz="2400" dirty="0"/>
              <a:t> - 23261A04G9					   (Assistant Professor)</a:t>
            </a:r>
          </a:p>
          <a:p>
            <a:r>
              <a:rPr lang="en-US" sz="2400" dirty="0" err="1"/>
              <a:t>P.Aishwary</a:t>
            </a:r>
            <a:r>
              <a:rPr lang="en-US" sz="2400" dirty="0"/>
              <a:t>- 232</a:t>
            </a:r>
            <a:r>
              <a:rPr lang="en-IN" sz="2400" dirty="0"/>
              <a:t>61A04H1</a:t>
            </a:r>
            <a:endParaRPr lang="en-IN" dirty="0"/>
          </a:p>
        </p:txBody>
      </p:sp>
    </p:spTree>
    <p:extLst>
      <p:ext uri="{BB962C8B-B14F-4D97-AF65-F5344CB8AC3E}">
        <p14:creationId xmlns:p14="http://schemas.microsoft.com/office/powerpoint/2010/main" val="352126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10B73-9F69-933F-6C0A-734BA2C87A4F}"/>
              </a:ext>
            </a:extLst>
          </p:cNvPr>
          <p:cNvSpPr>
            <a:spLocks noGrp="1"/>
          </p:cNvSpPr>
          <p:nvPr>
            <p:ph type="title"/>
          </p:nvPr>
        </p:nvSpPr>
        <p:spPr>
          <a:xfrm>
            <a:off x="838200" y="365126"/>
            <a:ext cx="10515600" cy="1149350"/>
          </a:xfrm>
        </p:spPr>
        <p:txBody>
          <a:bodyPr/>
          <a:lstStyle/>
          <a:p>
            <a:pPr algn="ctr"/>
            <a:r>
              <a:rPr lang="en-IN" b="1" dirty="0"/>
              <a:t>Contents</a:t>
            </a:r>
          </a:p>
        </p:txBody>
      </p:sp>
      <p:sp>
        <p:nvSpPr>
          <p:cNvPr id="3" name="TextBox 2">
            <a:extLst>
              <a:ext uri="{FF2B5EF4-FFF2-40B4-BE49-F238E27FC236}">
                <a16:creationId xmlns:a16="http://schemas.microsoft.com/office/drawing/2014/main" id="{72A94BC7-D36F-6BAB-40FD-E79900C6644E}"/>
              </a:ext>
            </a:extLst>
          </p:cNvPr>
          <p:cNvSpPr txBox="1"/>
          <p:nvPr/>
        </p:nvSpPr>
        <p:spPr>
          <a:xfrm>
            <a:off x="838200" y="1628775"/>
            <a:ext cx="9296400" cy="4801314"/>
          </a:xfrm>
          <a:prstGeom prst="rect">
            <a:avLst/>
          </a:prstGeom>
          <a:noFill/>
        </p:spPr>
        <p:txBody>
          <a:bodyPr wrap="square" rtlCol="0">
            <a:spAutoFit/>
          </a:bodyPr>
          <a:lstStyle/>
          <a:p>
            <a:endParaRPr lang="en-IN" sz="2800" dirty="0"/>
          </a:p>
          <a:p>
            <a:pPr marL="285750" indent="-285750">
              <a:buFont typeface="Arial" panose="020B0604020202020204" pitchFamily="34" charset="0"/>
              <a:buChar char="•"/>
            </a:pPr>
            <a:r>
              <a:rPr lang="en-IN" sz="2800" dirty="0"/>
              <a:t>Aim of the Project</a:t>
            </a:r>
          </a:p>
          <a:p>
            <a:pPr marL="285750" indent="-285750">
              <a:buFont typeface="Arial" panose="020B0604020202020204" pitchFamily="34" charset="0"/>
              <a:buChar char="•"/>
            </a:pPr>
            <a:r>
              <a:rPr lang="en-IN" sz="2800" dirty="0"/>
              <a:t>Abstract</a:t>
            </a:r>
          </a:p>
          <a:p>
            <a:pPr marL="285750" indent="-285750">
              <a:buFont typeface="Arial" panose="020B0604020202020204" pitchFamily="34" charset="0"/>
              <a:buChar char="•"/>
            </a:pPr>
            <a:r>
              <a:rPr lang="en-IN" sz="2800" dirty="0"/>
              <a:t>Block Diagram and Circuit Diagram</a:t>
            </a:r>
          </a:p>
          <a:p>
            <a:pPr marL="285750" indent="-285750">
              <a:buFont typeface="Arial" panose="020B0604020202020204" pitchFamily="34" charset="0"/>
              <a:buChar char="•"/>
            </a:pPr>
            <a:r>
              <a:rPr lang="en-IN" sz="2800" dirty="0"/>
              <a:t>Methodology</a:t>
            </a:r>
          </a:p>
          <a:p>
            <a:pPr marL="285750" indent="-285750">
              <a:buFont typeface="Arial" panose="020B0604020202020204" pitchFamily="34" charset="0"/>
              <a:buChar char="•"/>
            </a:pPr>
            <a:r>
              <a:rPr lang="en-IN" sz="2800" dirty="0"/>
              <a:t>Flowchart</a:t>
            </a:r>
          </a:p>
          <a:p>
            <a:pPr marL="285750" indent="-285750">
              <a:buFont typeface="Arial" panose="020B0604020202020204" pitchFamily="34" charset="0"/>
              <a:buChar char="•"/>
            </a:pPr>
            <a:r>
              <a:rPr lang="en-IN" sz="2800" dirty="0"/>
              <a:t>Results</a:t>
            </a:r>
          </a:p>
          <a:p>
            <a:pPr marL="285750" indent="-285750">
              <a:buFont typeface="Arial" panose="020B0604020202020204" pitchFamily="34" charset="0"/>
              <a:buChar char="•"/>
            </a:pPr>
            <a:r>
              <a:rPr lang="en-IN" sz="2800" dirty="0"/>
              <a:t>Conclusion</a:t>
            </a:r>
          </a:p>
          <a:p>
            <a:pPr marL="285750" indent="-285750">
              <a:buFont typeface="Arial" panose="020B0604020202020204" pitchFamily="34" charset="0"/>
              <a:buChar char="•"/>
            </a:pPr>
            <a:r>
              <a:rPr lang="en-IN" sz="2800" dirty="0"/>
              <a:t>References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520164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F276-9CEF-0C9E-47BE-3B6578227EC7}"/>
              </a:ext>
            </a:extLst>
          </p:cNvPr>
          <p:cNvSpPr>
            <a:spLocks noGrp="1"/>
          </p:cNvSpPr>
          <p:nvPr>
            <p:ph type="title"/>
          </p:nvPr>
        </p:nvSpPr>
        <p:spPr/>
        <p:txBody>
          <a:bodyPr/>
          <a:lstStyle/>
          <a:p>
            <a:r>
              <a:rPr lang="en-IN" sz="3200" b="1" dirty="0">
                <a:cs typeface="Times New Roman" panose="02020603050405020304" pitchFamily="18" charset="0"/>
              </a:rPr>
              <a:t>AIM OF THE PROJECT:</a:t>
            </a:r>
            <a:br>
              <a:rPr lang="en-IN" b="1" dirty="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502A536-0AC2-9D95-CB0B-557695EDA91A}"/>
              </a:ext>
            </a:extLst>
          </p:cNvPr>
          <p:cNvSpPr>
            <a:spLocks noGrp="1"/>
          </p:cNvSpPr>
          <p:nvPr>
            <p:ph idx="1"/>
          </p:nvPr>
        </p:nvSpPr>
        <p:spPr>
          <a:xfrm>
            <a:off x="960120" y="1299455"/>
            <a:ext cx="10515600" cy="4968948"/>
          </a:xfrm>
        </p:spPr>
        <p:txBody>
          <a:bodyPr/>
          <a:lstStyle/>
          <a:p>
            <a:pPr marL="0" indent="0">
              <a:buNone/>
            </a:pPr>
            <a:r>
              <a:rPr lang="en-US" spc="-1" dirty="0">
                <a:solidFill>
                  <a:srgbClr val="000000"/>
                </a:solidFill>
                <a:latin typeface="Times New Roman" panose="02020603050405020304" pitchFamily="18" charset="0"/>
                <a:cs typeface="Times New Roman" panose="02020603050405020304" pitchFamily="18" charset="0"/>
              </a:rPr>
              <a:t>To design and develop an IoT-based Smart Parking System that integrates a mobile application with real-time hardware simulation to enable users to remotely view slot availability, select specific parking spots, and automate gate entry via a timed booking mechanism.</a:t>
            </a:r>
          </a:p>
          <a:p>
            <a:endParaRPr lang="en-IN" dirty="0"/>
          </a:p>
        </p:txBody>
      </p:sp>
    </p:spTree>
    <p:extLst>
      <p:ext uri="{BB962C8B-B14F-4D97-AF65-F5344CB8AC3E}">
        <p14:creationId xmlns:p14="http://schemas.microsoft.com/office/powerpoint/2010/main" val="2968052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70431-4410-E3EA-BB9A-FD4D84370B2C}"/>
              </a:ext>
            </a:extLst>
          </p:cNvPr>
          <p:cNvSpPr>
            <a:spLocks noGrp="1"/>
          </p:cNvSpPr>
          <p:nvPr>
            <p:ph type="title"/>
          </p:nvPr>
        </p:nvSpPr>
        <p:spPr>
          <a:xfrm>
            <a:off x="838200" y="339958"/>
            <a:ext cx="10515600" cy="1295895"/>
          </a:xfrm>
        </p:spPr>
        <p:txBody>
          <a:bodyPr>
            <a:normAutofit/>
          </a:bodyPr>
          <a:lstStyle/>
          <a:p>
            <a:r>
              <a:rPr lang="en-IN" sz="3200" b="1" dirty="0"/>
              <a:t>Abstract:</a:t>
            </a:r>
          </a:p>
        </p:txBody>
      </p:sp>
      <p:sp>
        <p:nvSpPr>
          <p:cNvPr id="3" name="Content Placeholder 2">
            <a:extLst>
              <a:ext uri="{FF2B5EF4-FFF2-40B4-BE49-F238E27FC236}">
                <a16:creationId xmlns:a16="http://schemas.microsoft.com/office/drawing/2014/main" id="{9E418745-4EFE-53BD-6EA4-589CE363BB1A}"/>
              </a:ext>
            </a:extLst>
          </p:cNvPr>
          <p:cNvSpPr>
            <a:spLocks noGrp="1"/>
          </p:cNvSpPr>
          <p:nvPr>
            <p:ph idx="1"/>
          </p:nvPr>
        </p:nvSpPr>
        <p:spPr>
          <a:xfrm>
            <a:off x="838200" y="1551963"/>
            <a:ext cx="10515600" cy="4625000"/>
          </a:xfrm>
        </p:spPr>
        <p:txBody>
          <a:bodyPr/>
          <a:lstStyle/>
          <a:p>
            <a:pPr algn="just"/>
            <a:r>
              <a:rPr lang="en-IN" sz="2000" spc="-1" dirty="0">
                <a:latin typeface="Times New Roman" panose="02020603050405020304" pitchFamily="18" charset="0"/>
                <a:cs typeface="Times New Roman" panose="02020603050405020304" pitchFamily="18" charset="0"/>
              </a:rPr>
              <a:t>Urban congestion has led to significant challenges in finding available parking, resulting in fuel wastage and traffic delays. This project proposes a solution using an ESP32 microcontroller (simulated in </a:t>
            </a:r>
            <a:r>
              <a:rPr lang="en-IN" sz="2000" spc="-1" dirty="0" err="1">
                <a:latin typeface="Times New Roman" panose="02020603050405020304" pitchFamily="18" charset="0"/>
                <a:cs typeface="Times New Roman" panose="02020603050405020304" pitchFamily="18" charset="0"/>
              </a:rPr>
              <a:t>Wokwi</a:t>
            </a:r>
            <a:r>
              <a:rPr lang="en-IN" sz="2000" spc="-1" dirty="0">
                <a:latin typeface="Times New Roman" panose="02020603050405020304" pitchFamily="18" charset="0"/>
                <a:cs typeface="Times New Roman" panose="02020603050405020304" pitchFamily="18" charset="0"/>
              </a:rPr>
              <a:t>), IR sensors, and the Blynk IoT Cloud.</a:t>
            </a:r>
          </a:p>
          <a:p>
            <a:pPr algn="just"/>
            <a:r>
              <a:rPr lang="en-IN" sz="2000" spc="-1" dirty="0">
                <a:latin typeface="Times New Roman" panose="02020603050405020304" pitchFamily="18" charset="0"/>
                <a:cs typeface="Times New Roman" panose="02020603050405020304" pitchFamily="18" charset="0"/>
              </a:rPr>
              <a:t> The system allows users to interact with a mobile dashboard to reserve a spot for a specific duration. A servo-controlled gate automates entry, while an I2C LCD provides local status updates. </a:t>
            </a:r>
          </a:p>
          <a:p>
            <a:pPr algn="just"/>
            <a:r>
              <a:rPr lang="en-IN" sz="2000" spc="-1" dirty="0">
                <a:latin typeface="Times New Roman" panose="02020603050405020304" pitchFamily="18" charset="0"/>
                <a:cs typeface="Times New Roman" panose="02020603050405020304" pitchFamily="18" charset="0"/>
              </a:rPr>
              <a:t>By synchronizing the hardware state with the cloud, the project ensures real-time accuracy in slot management and minimizes human intervention</a:t>
            </a:r>
            <a:r>
              <a:rPr lang="en-IN" sz="2000" b="0" strike="noStrike" spc="-1"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2583297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5D7A00-4237-1338-7B6F-2E3E4C18F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701" y="251460"/>
            <a:ext cx="9265920" cy="5547360"/>
          </a:xfrm>
          <a:prstGeom prst="rect">
            <a:avLst/>
          </a:prstGeom>
        </p:spPr>
      </p:pic>
    </p:spTree>
    <p:extLst>
      <p:ext uri="{BB962C8B-B14F-4D97-AF65-F5344CB8AC3E}">
        <p14:creationId xmlns:p14="http://schemas.microsoft.com/office/powerpoint/2010/main" val="2003328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0091B-29DD-304B-0E8B-599CF26AF2ED}"/>
              </a:ext>
            </a:extLst>
          </p:cNvPr>
          <p:cNvSpPr>
            <a:spLocks noGrp="1"/>
          </p:cNvSpPr>
          <p:nvPr>
            <p:ph type="title"/>
          </p:nvPr>
        </p:nvSpPr>
        <p:spPr/>
        <p:txBody>
          <a:bodyPr/>
          <a:lstStyle/>
          <a:p>
            <a:r>
              <a:rPr lang="en-IN" sz="3600" b="1" dirty="0"/>
              <a:t>CIRCUIT DIAGRAM</a:t>
            </a:r>
            <a:r>
              <a:rPr lang="en-IN" dirty="0"/>
              <a:t>:</a:t>
            </a:r>
          </a:p>
        </p:txBody>
      </p:sp>
      <p:pic>
        <p:nvPicPr>
          <p:cNvPr id="5" name="Content Placeholder 4">
            <a:extLst>
              <a:ext uri="{FF2B5EF4-FFF2-40B4-BE49-F238E27FC236}">
                <a16:creationId xmlns:a16="http://schemas.microsoft.com/office/drawing/2014/main" id="{92816F06-29D8-E123-4D33-0830DDCA0A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6160" y="1825625"/>
            <a:ext cx="9926320" cy="4351338"/>
          </a:xfrm>
          <a:prstGeom prst="rect">
            <a:avLst/>
          </a:prstGeom>
        </p:spPr>
      </p:pic>
    </p:spTree>
    <p:extLst>
      <p:ext uri="{BB962C8B-B14F-4D97-AF65-F5344CB8AC3E}">
        <p14:creationId xmlns:p14="http://schemas.microsoft.com/office/powerpoint/2010/main" val="518754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06CC3-FF04-E494-2732-FEB6CBBE6182}"/>
              </a:ext>
            </a:extLst>
          </p:cNvPr>
          <p:cNvSpPr>
            <a:spLocks noGrp="1"/>
          </p:cNvSpPr>
          <p:nvPr>
            <p:ph type="title"/>
          </p:nvPr>
        </p:nvSpPr>
        <p:spPr/>
        <p:txBody>
          <a:bodyPr>
            <a:normAutofit/>
          </a:bodyPr>
          <a:lstStyle/>
          <a:p>
            <a:r>
              <a:rPr lang="en-IN" sz="3600" b="1" dirty="0" err="1"/>
              <a:t>Methodolody</a:t>
            </a:r>
            <a:r>
              <a:rPr lang="en-IN" sz="3600" b="1" dirty="0"/>
              <a:t>:</a:t>
            </a:r>
          </a:p>
        </p:txBody>
      </p:sp>
      <p:sp>
        <p:nvSpPr>
          <p:cNvPr id="3" name="Content Placeholder 2">
            <a:extLst>
              <a:ext uri="{FF2B5EF4-FFF2-40B4-BE49-F238E27FC236}">
                <a16:creationId xmlns:a16="http://schemas.microsoft.com/office/drawing/2014/main" id="{9BF99023-FDB9-1EB4-016A-05023672411E}"/>
              </a:ext>
            </a:extLst>
          </p:cNvPr>
          <p:cNvSpPr>
            <a:spLocks noGrp="1"/>
          </p:cNvSpPr>
          <p:nvPr>
            <p:ph idx="1"/>
          </p:nvPr>
        </p:nvSpPr>
        <p:spPr>
          <a:xfrm>
            <a:off x="655320" y="1564004"/>
            <a:ext cx="10515600" cy="4712335"/>
          </a:xfrm>
        </p:spPr>
        <p:txBody>
          <a:bodyPr>
            <a:normAutofit/>
          </a:bodyPr>
          <a:lstStyle/>
          <a:p>
            <a:pPr marL="0" indent="0" algn="just">
              <a:buNone/>
            </a:pPr>
            <a:r>
              <a:rPr lang="en-IN" sz="1600" b="1" dirty="0">
                <a:latin typeface="Times New Roman" panose="02020603050405020304" pitchFamily="18" charset="0"/>
                <a:cs typeface="Times New Roman" panose="02020603050405020304" pitchFamily="18" charset="0"/>
              </a:rPr>
              <a:t>Phase I:</a:t>
            </a:r>
            <a:r>
              <a:rPr lang="en-IN" sz="1600" dirty="0">
                <a:latin typeface="Times New Roman" panose="02020603050405020304" pitchFamily="18" charset="0"/>
                <a:cs typeface="Times New Roman" panose="02020603050405020304" pitchFamily="18" charset="0"/>
              </a:rPr>
              <a:t> Hardware Simulation (</a:t>
            </a:r>
            <a:r>
              <a:rPr lang="en-IN" sz="1600" dirty="0" err="1">
                <a:latin typeface="Times New Roman" panose="02020603050405020304" pitchFamily="18" charset="0"/>
                <a:cs typeface="Times New Roman" panose="02020603050405020304" pitchFamily="18" charset="0"/>
              </a:rPr>
              <a:t>Wokwi</a:t>
            </a:r>
            <a:r>
              <a:rPr lang="en-IN" sz="1600" dirty="0">
                <a:latin typeface="Times New Roman" panose="02020603050405020304" pitchFamily="18" charset="0"/>
                <a:cs typeface="Times New Roman" panose="02020603050405020304" pitchFamily="18" charset="0"/>
              </a:rPr>
              <a:t>)</a:t>
            </a:r>
          </a:p>
          <a:p>
            <a:pPr marL="285750" indent="-285750" algn="just"/>
            <a:r>
              <a:rPr lang="en-IN" sz="1600" dirty="0">
                <a:latin typeface="Times New Roman" panose="02020603050405020304" pitchFamily="18" charset="0"/>
                <a:cs typeface="Times New Roman" panose="02020603050405020304" pitchFamily="18" charset="0"/>
              </a:rPr>
              <a:t>Sensing Layer: Four IR Sensors (simulated via digital pins with INPUT_PULLUP) monitor physical occupancy.</a:t>
            </a:r>
          </a:p>
          <a:p>
            <a:pPr marL="285750" indent="-285750" algn="just"/>
            <a:r>
              <a:rPr lang="en-IN" sz="1600" dirty="0">
                <a:latin typeface="Times New Roman" panose="02020603050405020304" pitchFamily="18" charset="0"/>
                <a:cs typeface="Times New Roman" panose="02020603050405020304" pitchFamily="18" charset="0"/>
              </a:rPr>
              <a:t>Actuation Layer: A Servo Motor acts as the automated gate, controlled via PWM signals.</a:t>
            </a:r>
          </a:p>
          <a:p>
            <a:pPr marL="285750" indent="-285750" algn="just"/>
            <a:r>
              <a:rPr lang="en-IN" sz="1600" dirty="0">
                <a:latin typeface="Times New Roman" panose="02020603050405020304" pitchFamily="18" charset="0"/>
                <a:cs typeface="Times New Roman" panose="02020603050405020304" pitchFamily="18" charset="0"/>
              </a:rPr>
              <a:t>User Interface: A 16x2 I2C LCD provides real-time local feedback (e.g., "Slot Booked," "System Online").</a:t>
            </a:r>
          </a:p>
          <a:p>
            <a:pPr marL="0" indent="0" algn="just">
              <a:buNone/>
            </a:pPr>
            <a:r>
              <a:rPr lang="en-US" sz="1600" b="1" dirty="0"/>
              <a:t>Phase II: </a:t>
            </a:r>
            <a:r>
              <a:rPr lang="en-US" sz="1600" dirty="0"/>
              <a:t>Connectivity &amp; IoT Middleware (Blynk/Firebase)</a:t>
            </a:r>
          </a:p>
          <a:p>
            <a:pPr marL="285750" indent="-285750" algn="just"/>
            <a:r>
              <a:rPr lang="en-US" sz="1600" dirty="0"/>
              <a:t>Data Synchronization: The ESP32 connects to the </a:t>
            </a:r>
            <a:r>
              <a:rPr lang="en-US" sz="1600" dirty="0" err="1"/>
              <a:t>Wokwi</a:t>
            </a:r>
            <a:r>
              <a:rPr lang="en-US" sz="1600" dirty="0"/>
              <a:t>-GUEST virtual network</a:t>
            </a:r>
          </a:p>
          <a:p>
            <a:pPr marL="285750" indent="-285750" algn="just"/>
            <a:r>
              <a:rPr lang="en-US" sz="1600" dirty="0"/>
              <a:t>State Management: Virtual Pins (V1 to V5) handle the bidirectional flow of data.</a:t>
            </a:r>
          </a:p>
          <a:p>
            <a:pPr marL="285750" indent="-285750" algn="just"/>
            <a:r>
              <a:rPr lang="en-US" sz="1600" dirty="0"/>
              <a:t>Persistence: The Cloud Server stores the "Booked" status and "Duration" to ensure data isn't lost if the hardware restarts.</a:t>
            </a:r>
          </a:p>
          <a:p>
            <a:pPr marL="0" indent="0" algn="just">
              <a:buNone/>
            </a:pPr>
            <a:r>
              <a:rPr lang="en-US" sz="1600" b="1" dirty="0"/>
              <a:t>Phase III: </a:t>
            </a:r>
            <a:r>
              <a:rPr lang="en-US" sz="1600" dirty="0"/>
              <a:t>Mobile Application Development (Flutter/Blynk)</a:t>
            </a:r>
          </a:p>
          <a:p>
            <a:pPr marL="285750" indent="-285750" algn="just"/>
            <a:r>
              <a:rPr lang="en-US" sz="1600" dirty="0"/>
              <a:t>Dashboard Design: UI widgets (Sliders, Buttons, and Value Displays) are mapped to the Virtual Pins.</a:t>
            </a:r>
          </a:p>
          <a:p>
            <a:pPr marL="285750" indent="-285750" algn="just"/>
            <a:r>
              <a:rPr lang="en-US" sz="1600" dirty="0"/>
              <a:t>Control Logic: The app allows users to select a specific slot, set a timer, and trigger the gate actuation remotely.</a:t>
            </a:r>
          </a:p>
          <a:p>
            <a:pPr marL="0" indent="0" algn="just">
              <a:buNone/>
            </a:pPr>
            <a:r>
              <a:rPr lang="en-US" sz="1600" b="1" dirty="0"/>
              <a:t>Phase IV: </a:t>
            </a:r>
            <a:r>
              <a:rPr lang="en-US" sz="1600" dirty="0"/>
              <a:t>Integration &amp; Logic Validation</a:t>
            </a:r>
          </a:p>
          <a:p>
            <a:pPr marL="285750" indent="-285750" algn="just"/>
            <a:r>
              <a:rPr lang="en-US" sz="1600" dirty="0"/>
              <a:t>The Sync Protocol: Using BLYNK_CONNECTED(), the system performs a "handshake" to ensure the hardware and app have matching values (e.g., the timer slider position) upon startup.</a:t>
            </a:r>
            <a:endParaRPr lang="en-IN" sz="1600" dirty="0"/>
          </a:p>
          <a:p>
            <a:pPr marL="285750" indent="-285750"/>
            <a:endParaRPr lang="en-IN" sz="16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60171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4494F-BD3A-919A-F334-B24245CA295D}"/>
              </a:ext>
            </a:extLst>
          </p:cNvPr>
          <p:cNvSpPr>
            <a:spLocks noGrp="1"/>
          </p:cNvSpPr>
          <p:nvPr>
            <p:ph type="title"/>
          </p:nvPr>
        </p:nvSpPr>
        <p:spPr/>
        <p:txBody>
          <a:bodyPr>
            <a:normAutofit/>
          </a:bodyPr>
          <a:lstStyle/>
          <a:p>
            <a:r>
              <a:rPr lang="en-IN" sz="3600" b="1" dirty="0"/>
              <a:t>Flowchart:</a:t>
            </a:r>
          </a:p>
        </p:txBody>
      </p:sp>
      <p:pic>
        <p:nvPicPr>
          <p:cNvPr id="5" name="Content Placeholder 4">
            <a:extLst>
              <a:ext uri="{FF2B5EF4-FFF2-40B4-BE49-F238E27FC236}">
                <a16:creationId xmlns:a16="http://schemas.microsoft.com/office/drawing/2014/main" id="{941223C7-A449-DE6D-B20B-7BA546A561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4540" y="1318260"/>
            <a:ext cx="8054340" cy="5257799"/>
          </a:xfrm>
          <a:prstGeom prst="rect">
            <a:avLst/>
          </a:prstGeom>
        </p:spPr>
      </p:pic>
    </p:spTree>
    <p:extLst>
      <p:ext uri="{BB962C8B-B14F-4D97-AF65-F5344CB8AC3E}">
        <p14:creationId xmlns:p14="http://schemas.microsoft.com/office/powerpoint/2010/main" val="1314806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E0D5C-E9B4-774B-621E-BFBDE93944D1}"/>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E44552D1-5CEE-E352-9EBF-F351E40F6AE6}"/>
              </a:ext>
            </a:extLst>
          </p:cNvPr>
          <p:cNvSpPr>
            <a:spLocks noGrp="1"/>
          </p:cNvSpPr>
          <p:nvPr>
            <p:ph sz="half" idx="1"/>
          </p:nvPr>
        </p:nvSpPr>
        <p:spPr>
          <a:xfrm>
            <a:off x="838200" y="1203960"/>
            <a:ext cx="5181600" cy="4973003"/>
          </a:xfrm>
        </p:spPr>
        <p:txBody>
          <a:bodyPr>
            <a:normAutofit/>
          </a:bodyPr>
          <a:lstStyle/>
          <a:p>
            <a:pPr marL="0" indent="0">
              <a:buNone/>
            </a:pPr>
            <a:r>
              <a:rPr lang="en-IN" sz="1600" dirty="0"/>
              <a:t>Booking System display in Blynk App:</a:t>
            </a:r>
          </a:p>
          <a:p>
            <a:pPr marL="0" indent="0">
              <a:buNone/>
            </a:pPr>
            <a:endParaRPr lang="en-IN" sz="1600" dirty="0"/>
          </a:p>
        </p:txBody>
      </p:sp>
      <p:sp>
        <p:nvSpPr>
          <p:cNvPr id="4" name="Content Placeholder 3">
            <a:extLst>
              <a:ext uri="{FF2B5EF4-FFF2-40B4-BE49-F238E27FC236}">
                <a16:creationId xmlns:a16="http://schemas.microsoft.com/office/drawing/2014/main" id="{1D3C1671-5117-F6FA-E052-AF8C800C8C05}"/>
              </a:ext>
            </a:extLst>
          </p:cNvPr>
          <p:cNvSpPr>
            <a:spLocks noGrp="1"/>
          </p:cNvSpPr>
          <p:nvPr>
            <p:ph sz="half" idx="2"/>
          </p:nvPr>
        </p:nvSpPr>
        <p:spPr>
          <a:xfrm>
            <a:off x="6172200" y="1203960"/>
            <a:ext cx="5181600" cy="4747260"/>
          </a:xfrm>
        </p:spPr>
        <p:txBody>
          <a:bodyPr>
            <a:normAutofit/>
          </a:bodyPr>
          <a:lstStyle/>
          <a:p>
            <a:pPr marL="0" indent="0">
              <a:buNone/>
            </a:pPr>
            <a:r>
              <a:rPr lang="en-IN" sz="1600" dirty="0"/>
              <a:t>Screen Monitor: </a:t>
            </a:r>
          </a:p>
          <a:p>
            <a:pPr marL="0" indent="0">
              <a:buNone/>
            </a:pPr>
            <a:endParaRPr lang="en-IN" sz="1600" dirty="0"/>
          </a:p>
        </p:txBody>
      </p:sp>
      <p:pic>
        <p:nvPicPr>
          <p:cNvPr id="6" name="Picture 5">
            <a:extLst>
              <a:ext uri="{FF2B5EF4-FFF2-40B4-BE49-F238E27FC236}">
                <a16:creationId xmlns:a16="http://schemas.microsoft.com/office/drawing/2014/main" id="{CC041A05-B698-D8AA-5536-279CE7DBD412}"/>
              </a:ext>
            </a:extLst>
          </p:cNvPr>
          <p:cNvPicPr>
            <a:picLocks noChangeAspect="1"/>
          </p:cNvPicPr>
          <p:nvPr/>
        </p:nvPicPr>
        <p:blipFill>
          <a:blip r:embed="rId2"/>
          <a:stretch>
            <a:fillRect/>
          </a:stretch>
        </p:blipFill>
        <p:spPr>
          <a:xfrm>
            <a:off x="1112520" y="1629728"/>
            <a:ext cx="4177782" cy="4486275"/>
          </a:xfrm>
          <a:prstGeom prst="rect">
            <a:avLst/>
          </a:prstGeom>
        </p:spPr>
      </p:pic>
      <p:pic>
        <p:nvPicPr>
          <p:cNvPr id="8" name="Picture 7">
            <a:extLst>
              <a:ext uri="{FF2B5EF4-FFF2-40B4-BE49-F238E27FC236}">
                <a16:creationId xmlns:a16="http://schemas.microsoft.com/office/drawing/2014/main" id="{1A1C3DB5-D057-85CF-2B9B-71DCA2D84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120" y="1575912"/>
            <a:ext cx="5059680" cy="4490085"/>
          </a:xfrm>
          <a:prstGeom prst="rect">
            <a:avLst/>
          </a:prstGeom>
        </p:spPr>
      </p:pic>
    </p:spTree>
    <p:extLst>
      <p:ext uri="{BB962C8B-B14F-4D97-AF65-F5344CB8AC3E}">
        <p14:creationId xmlns:p14="http://schemas.microsoft.com/office/powerpoint/2010/main" val="210112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F3A290C-1E1C-4A13-C600-9B8502F058B7}"/>
              </a:ext>
            </a:extLst>
          </p:cNvPr>
          <p:cNvSpPr>
            <a:spLocks noGrp="1"/>
          </p:cNvSpPr>
          <p:nvPr>
            <p:ph type="title"/>
          </p:nvPr>
        </p:nvSpPr>
        <p:spPr>
          <a:xfrm flipV="1">
            <a:off x="838200" y="243840"/>
            <a:ext cx="10515600" cy="121285"/>
          </a:xfrm>
        </p:spPr>
        <p:txBody>
          <a:bodyPr>
            <a:normAutofit fontScale="90000"/>
          </a:bodyPr>
          <a:lstStyle/>
          <a:p>
            <a:r>
              <a:rPr lang="en-IN" dirty="0"/>
              <a:t>  </a:t>
            </a:r>
          </a:p>
        </p:txBody>
      </p:sp>
      <p:sp>
        <p:nvSpPr>
          <p:cNvPr id="7" name="Content Placeholder 6">
            <a:extLst>
              <a:ext uri="{FF2B5EF4-FFF2-40B4-BE49-F238E27FC236}">
                <a16:creationId xmlns:a16="http://schemas.microsoft.com/office/drawing/2014/main" id="{DDEA641C-B4EB-3EF3-FBE5-105253269E3D}"/>
              </a:ext>
            </a:extLst>
          </p:cNvPr>
          <p:cNvSpPr>
            <a:spLocks noGrp="1"/>
          </p:cNvSpPr>
          <p:nvPr>
            <p:ph sz="half" idx="1"/>
          </p:nvPr>
        </p:nvSpPr>
        <p:spPr>
          <a:xfrm>
            <a:off x="723900" y="1010285"/>
            <a:ext cx="5181600" cy="4351338"/>
          </a:xfrm>
        </p:spPr>
        <p:txBody>
          <a:bodyPr>
            <a:normAutofit/>
          </a:bodyPr>
          <a:lstStyle/>
          <a:p>
            <a:pPr marL="0" indent="0">
              <a:buNone/>
            </a:pPr>
            <a:r>
              <a:rPr lang="en-IN" sz="1600" b="1" dirty="0">
                <a:latin typeface="Times New Roman" panose="02020603050405020304" pitchFamily="18" charset="0"/>
                <a:cs typeface="Times New Roman" panose="02020603050405020304" pitchFamily="18" charset="0"/>
              </a:rPr>
              <a:t>BLYNK CONSOLE:</a:t>
            </a:r>
          </a:p>
          <a:p>
            <a:pPr marL="0" indent="0">
              <a:buNone/>
            </a:pPr>
            <a:endParaRPr lang="en-IN" sz="16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6C83ED0B-23DB-1CBC-BA17-11360DD698A9}"/>
              </a:ext>
            </a:extLst>
          </p:cNvPr>
          <p:cNvSpPr>
            <a:spLocks noGrp="1"/>
          </p:cNvSpPr>
          <p:nvPr>
            <p:ph sz="half" idx="2"/>
          </p:nvPr>
        </p:nvSpPr>
        <p:spPr>
          <a:xfrm>
            <a:off x="6172200" y="1010284"/>
            <a:ext cx="5181600" cy="5268595"/>
          </a:xfrm>
        </p:spPr>
        <p:txBody>
          <a:bodyPr>
            <a:normAutofit/>
          </a:bodyPr>
          <a:lstStyle/>
          <a:p>
            <a:pPr marL="0" indent="0">
              <a:buNone/>
            </a:pPr>
            <a:r>
              <a:rPr lang="en-IN" sz="1600" b="1" dirty="0"/>
              <a:t>BLYNK CONSOLE OUTPUT:</a:t>
            </a:r>
          </a:p>
          <a:p>
            <a:pPr marL="0" indent="0">
              <a:buNone/>
            </a:pPr>
            <a:endParaRPr lang="en-IN" sz="1600" b="1" dirty="0"/>
          </a:p>
        </p:txBody>
      </p:sp>
      <p:pic>
        <p:nvPicPr>
          <p:cNvPr id="12" name="Picture 11">
            <a:extLst>
              <a:ext uri="{FF2B5EF4-FFF2-40B4-BE49-F238E27FC236}">
                <a16:creationId xmlns:a16="http://schemas.microsoft.com/office/drawing/2014/main" id="{7F3414B3-41D7-7004-2443-8525A4F476D6}"/>
              </a:ext>
            </a:extLst>
          </p:cNvPr>
          <p:cNvPicPr>
            <a:picLocks noChangeAspect="1"/>
          </p:cNvPicPr>
          <p:nvPr/>
        </p:nvPicPr>
        <p:blipFill>
          <a:blip r:embed="rId2"/>
          <a:stretch>
            <a:fillRect/>
          </a:stretch>
        </p:blipFill>
        <p:spPr>
          <a:xfrm>
            <a:off x="723900" y="1409382"/>
            <a:ext cx="5181600" cy="4798377"/>
          </a:xfrm>
          <a:prstGeom prst="rect">
            <a:avLst/>
          </a:prstGeom>
        </p:spPr>
      </p:pic>
      <p:pic>
        <p:nvPicPr>
          <p:cNvPr id="14" name="Picture 13">
            <a:extLst>
              <a:ext uri="{FF2B5EF4-FFF2-40B4-BE49-F238E27FC236}">
                <a16:creationId xmlns:a16="http://schemas.microsoft.com/office/drawing/2014/main" id="{3BAC5BEC-E459-E37F-1007-006FB188AA8E}"/>
              </a:ext>
            </a:extLst>
          </p:cNvPr>
          <p:cNvPicPr>
            <a:picLocks noChangeAspect="1"/>
          </p:cNvPicPr>
          <p:nvPr/>
        </p:nvPicPr>
        <p:blipFill>
          <a:blip r:embed="rId3"/>
          <a:stretch>
            <a:fillRect/>
          </a:stretch>
        </p:blipFill>
        <p:spPr>
          <a:xfrm>
            <a:off x="6289040" y="1420492"/>
            <a:ext cx="5179060" cy="4787267"/>
          </a:xfrm>
          <a:prstGeom prst="rect">
            <a:avLst/>
          </a:prstGeom>
        </p:spPr>
      </p:pic>
    </p:spTree>
    <p:extLst>
      <p:ext uri="{BB962C8B-B14F-4D97-AF65-F5344CB8AC3E}">
        <p14:creationId xmlns:p14="http://schemas.microsoft.com/office/powerpoint/2010/main" val="299845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27D37A-FD69-86C6-EBA9-E8599EC14395}"/>
              </a:ext>
            </a:extLst>
          </p:cNvPr>
          <p:cNvSpPr>
            <a:spLocks noGrp="1"/>
          </p:cNvSpPr>
          <p:nvPr>
            <p:ph type="title"/>
          </p:nvPr>
        </p:nvSpPr>
        <p:spPr/>
        <p:txBody>
          <a:bodyPr>
            <a:normAutofit/>
          </a:bodyPr>
          <a:lstStyle/>
          <a:p>
            <a:r>
              <a:rPr lang="en-IN" sz="3600" b="1" dirty="0"/>
              <a:t>CONCLUSION AND FUTURE SCOPE:</a:t>
            </a:r>
          </a:p>
        </p:txBody>
      </p:sp>
      <p:sp>
        <p:nvSpPr>
          <p:cNvPr id="6" name="Content Placeholder 5">
            <a:extLst>
              <a:ext uri="{FF2B5EF4-FFF2-40B4-BE49-F238E27FC236}">
                <a16:creationId xmlns:a16="http://schemas.microsoft.com/office/drawing/2014/main" id="{6F1754F9-D600-2DDD-CF95-2281347C6FCC}"/>
              </a:ext>
            </a:extLst>
          </p:cNvPr>
          <p:cNvSpPr>
            <a:spLocks noGrp="1"/>
          </p:cNvSpPr>
          <p:nvPr>
            <p:ph idx="1"/>
          </p:nvPr>
        </p:nvSpPr>
        <p:spPr>
          <a:xfrm>
            <a:off x="838200" y="1378585"/>
            <a:ext cx="10515600" cy="4351338"/>
          </a:xfrm>
        </p:spPr>
        <p:txBody>
          <a:bodyPr>
            <a:normAutofit fontScale="85000" lnSpcReduction="20000"/>
          </a:bodyPr>
          <a:lstStyle/>
          <a:p>
            <a:pPr marL="0" indent="0">
              <a:buNone/>
            </a:pPr>
            <a:endParaRPr lang="en-IN" dirty="0"/>
          </a:p>
          <a:p>
            <a:pPr algn="just"/>
            <a:r>
              <a:rPr lang="en-IN" sz="2100" dirty="0">
                <a:latin typeface="Times New Roman" panose="02020603050405020304" pitchFamily="18" charset="0"/>
                <a:cs typeface="Times New Roman" panose="02020603050405020304" pitchFamily="18" charset="0"/>
              </a:rPr>
              <a:t>The Automated Parking Slot System Using Mobile Application was successfully designed and implemented using ESP32 microcontroller, IR sensors, ultrasonic sensor, servo motor, LCD display, and Blynk cloud platform. </a:t>
            </a:r>
          </a:p>
          <a:p>
            <a:pPr algn="just"/>
            <a:r>
              <a:rPr lang="en-IN" sz="2100" dirty="0">
                <a:latin typeface="Times New Roman" panose="02020603050405020304" pitchFamily="18" charset="0"/>
                <a:cs typeface="Times New Roman" panose="02020603050405020304" pitchFamily="18" charset="0"/>
              </a:rPr>
              <a:t>The system effectively monitors parking slot occupancy, provides real-time parking information through a mobile application, and enables automated gate control for vehicle entry and exit. The developed solution reduces parking search time, improves parking space utilization, and enhances user convenience through remote monitoring and reservation features. </a:t>
            </a:r>
          </a:p>
          <a:p>
            <a:pPr algn="just"/>
            <a:r>
              <a:rPr lang="en-IN" sz="2100" dirty="0">
                <a:latin typeface="Times New Roman" panose="02020603050405020304" pitchFamily="18" charset="0"/>
                <a:cs typeface="Times New Roman" panose="02020603050405020304" pitchFamily="18" charset="0"/>
              </a:rPr>
              <a:t>Experimental results demonstrated reliable sensor performance, accurate vehicle detection, efficient cloud communication, and effective parking management, making the system suitable for smart parking applications.</a:t>
            </a:r>
          </a:p>
          <a:p>
            <a:pPr algn="just"/>
            <a:r>
              <a:rPr lang="en-IN" sz="2100" dirty="0">
                <a:latin typeface="Times New Roman" panose="02020603050405020304" pitchFamily="18" charset="0"/>
                <a:cs typeface="Times New Roman" panose="02020603050405020304" pitchFamily="18" charset="0"/>
              </a:rPr>
              <a:t>In the future, the proposed system can be enhanced by integrating advanced features such as online payment facilities, GPS-based navigation, license plate recognition, and cloud database management. Artificial Intelligence and Machine Learning techniques can be incorporated for parking prediction and optimization, while surveillance cameras and notification services can improve security and user experience.</a:t>
            </a:r>
          </a:p>
          <a:p>
            <a:pPr algn="just"/>
            <a:r>
              <a:rPr lang="en-IN" sz="2100" dirty="0">
                <a:latin typeface="Times New Roman" panose="02020603050405020304" pitchFamily="18" charset="0"/>
                <a:cs typeface="Times New Roman" panose="02020603050405020304" pitchFamily="18" charset="0"/>
              </a:rPr>
              <a:t> These enhancements will increase the scalability, efficiency, and intelligence of the system, making it more suitable for large-scale smart city and intelligent transportation applications.</a:t>
            </a:r>
          </a:p>
          <a:p>
            <a:pPr marL="0" indent="0">
              <a:buNone/>
            </a:pPr>
            <a:endParaRPr lang="en-IN" dirty="0"/>
          </a:p>
        </p:txBody>
      </p:sp>
    </p:spTree>
    <p:extLst>
      <p:ext uri="{BB962C8B-B14F-4D97-AF65-F5344CB8AC3E}">
        <p14:creationId xmlns:p14="http://schemas.microsoft.com/office/powerpoint/2010/main" val="2496341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7EEC45-C181-4E48-E946-FD12B5AD926C}"/>
              </a:ext>
            </a:extLst>
          </p:cNvPr>
          <p:cNvSpPr>
            <a:spLocks noGrp="1"/>
          </p:cNvSpPr>
          <p:nvPr>
            <p:ph type="title"/>
          </p:nvPr>
        </p:nvSpPr>
        <p:spPr/>
        <p:txBody>
          <a:bodyPr>
            <a:normAutofit/>
          </a:bodyPr>
          <a:lstStyle/>
          <a:p>
            <a:r>
              <a:rPr lang="en-IN" sz="3600" b="1" dirty="0">
                <a:cs typeface="Times New Roman" panose="02020603050405020304" pitchFamily="18" charset="0"/>
              </a:rPr>
              <a:t>REFERENCES:</a:t>
            </a:r>
            <a:endParaRPr lang="en-IN" sz="3600" dirty="0"/>
          </a:p>
        </p:txBody>
      </p:sp>
      <p:sp>
        <p:nvSpPr>
          <p:cNvPr id="4" name="Content Placeholder 3">
            <a:extLst>
              <a:ext uri="{FF2B5EF4-FFF2-40B4-BE49-F238E27FC236}">
                <a16:creationId xmlns:a16="http://schemas.microsoft.com/office/drawing/2014/main" id="{5DE4F15B-4F6F-C39A-9AC3-226C3ED1C2DD}"/>
              </a:ext>
            </a:extLst>
          </p:cNvPr>
          <p:cNvSpPr>
            <a:spLocks noGrp="1"/>
          </p:cNvSpPr>
          <p:nvPr>
            <p:ph idx="1"/>
          </p:nvPr>
        </p:nvSpPr>
        <p:spPr/>
        <p:txBody>
          <a:bodyPr/>
          <a:lstStyle/>
          <a:p>
            <a:pPr marL="0" indent="0">
              <a:lnSpc>
                <a:spcPct val="100000"/>
              </a:lnSpc>
              <a:buClr>
                <a:srgbClr val="000000"/>
              </a:buClr>
              <a:buNone/>
            </a:pPr>
            <a:r>
              <a:rPr lang="en-IN" sz="2000" dirty="0"/>
              <a:t>[1] </a:t>
            </a:r>
            <a:r>
              <a:rPr lang="en-IN" sz="2000" spc="-1" dirty="0"/>
              <a:t>Blynk IoT Documentation: https://docs.blynk.io/</a:t>
            </a:r>
          </a:p>
          <a:p>
            <a:pPr marL="457200" indent="-456840">
              <a:lnSpc>
                <a:spcPct val="100000"/>
              </a:lnSpc>
              <a:buClr>
                <a:srgbClr val="000000"/>
              </a:buClr>
              <a:buFont typeface="Arial"/>
              <a:buChar char="•"/>
            </a:pPr>
            <a:endParaRPr lang="en-IN" sz="2000" spc="-1" dirty="0"/>
          </a:p>
          <a:p>
            <a:pPr marL="0" indent="0">
              <a:lnSpc>
                <a:spcPct val="100000"/>
              </a:lnSpc>
              <a:buClr>
                <a:srgbClr val="000000"/>
              </a:buClr>
              <a:buNone/>
            </a:pPr>
            <a:r>
              <a:rPr lang="en-IN" sz="2000" dirty="0"/>
              <a:t>[2] </a:t>
            </a:r>
            <a:r>
              <a:rPr lang="en-IN" sz="2000" spc="-1" dirty="0" err="1"/>
              <a:t>Wokwi</a:t>
            </a:r>
            <a:r>
              <a:rPr lang="en-IN" sz="2000" spc="-1" dirty="0"/>
              <a:t> ESP32 Simulation Guide: https://docs.wokwi.com/</a:t>
            </a:r>
          </a:p>
          <a:p>
            <a:pPr marL="457200" indent="-456840">
              <a:lnSpc>
                <a:spcPct val="100000"/>
              </a:lnSpc>
              <a:buClr>
                <a:srgbClr val="000000"/>
              </a:buClr>
              <a:buFont typeface="Arial"/>
              <a:buChar char="•"/>
            </a:pPr>
            <a:endParaRPr lang="en-IN" sz="2000" spc="-1" dirty="0"/>
          </a:p>
          <a:p>
            <a:pPr marL="0" indent="0">
              <a:lnSpc>
                <a:spcPct val="100000"/>
              </a:lnSpc>
              <a:buClr>
                <a:srgbClr val="000000"/>
              </a:buClr>
              <a:buNone/>
            </a:pPr>
            <a:r>
              <a:rPr lang="en-IN" sz="2000" dirty="0"/>
              <a:t>[3] </a:t>
            </a:r>
            <a:r>
              <a:rPr lang="en-IN" sz="2000" spc="-1" dirty="0" err="1"/>
              <a:t>Espressif</a:t>
            </a:r>
            <a:r>
              <a:rPr lang="en-IN" sz="2000" spc="-1" dirty="0"/>
              <a:t> Systems ESP32 Technical Reference Manual.</a:t>
            </a:r>
          </a:p>
          <a:p>
            <a:pPr marL="0" indent="0">
              <a:lnSpc>
                <a:spcPct val="100000"/>
              </a:lnSpc>
              <a:buClr>
                <a:srgbClr val="000000"/>
              </a:buClr>
              <a:buNone/>
            </a:pPr>
            <a:endParaRPr lang="en-IN" sz="2000" spc="-1" dirty="0"/>
          </a:p>
          <a:p>
            <a:pPr marL="0" indent="0">
              <a:lnSpc>
                <a:spcPct val="100000"/>
              </a:lnSpc>
              <a:buClr>
                <a:srgbClr val="000000"/>
              </a:buClr>
              <a:buNone/>
            </a:pPr>
            <a:r>
              <a:rPr lang="en-IN" sz="2000" dirty="0"/>
              <a:t>[4] </a:t>
            </a:r>
            <a:r>
              <a:rPr lang="en-IN" sz="2000" spc="-1" dirty="0"/>
              <a:t>Arduino ESP32Servo Library Documentation.</a:t>
            </a:r>
            <a:endParaRPr lang="en-IN" sz="2000" spc="-1" dirty="0">
              <a:latin typeface="Arial"/>
            </a:endParaRPr>
          </a:p>
          <a:p>
            <a:pPr marL="0" indent="0">
              <a:buNone/>
            </a:pPr>
            <a:endParaRPr lang="en-IN" dirty="0"/>
          </a:p>
        </p:txBody>
      </p:sp>
    </p:spTree>
    <p:extLst>
      <p:ext uri="{BB962C8B-B14F-4D97-AF65-F5344CB8AC3E}">
        <p14:creationId xmlns:p14="http://schemas.microsoft.com/office/powerpoint/2010/main" val="2030009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763</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新細明體</vt:lpstr>
      <vt:lpstr>Arial</vt:lpstr>
      <vt:lpstr>Calibri</vt:lpstr>
      <vt:lpstr>Calibri Light</vt:lpstr>
      <vt:lpstr>Times New Roman</vt:lpstr>
      <vt:lpstr>Office Theme</vt:lpstr>
      <vt:lpstr>PowerPoint Presentation</vt:lpstr>
      <vt:lpstr>Contents</vt:lpstr>
      <vt:lpstr>AIM OF THE PROJECT: </vt:lpstr>
      <vt:lpstr>Abstract:</vt:lpstr>
      <vt:lpstr>PowerPoint Presentation</vt:lpstr>
      <vt:lpstr>CIRCUIT DIAGRAM:</vt:lpstr>
      <vt:lpstr>Methodolody:</vt:lpstr>
      <vt:lpstr>Flowchart:</vt:lpstr>
      <vt:lpstr>Results</vt:lpstr>
      <vt:lpstr>  </vt:lpstr>
      <vt:lpstr>CONCLUSION AND 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SAAKETHA PEECHU</dc:creator>
  <cp:lastModifiedBy>SAAKETHA PEECHU</cp:lastModifiedBy>
  <cp:revision>1</cp:revision>
  <dcterms:created xsi:type="dcterms:W3CDTF">2026-06-19T02:32:54Z</dcterms:created>
  <dcterms:modified xsi:type="dcterms:W3CDTF">2026-06-19T03:01:45Z</dcterms:modified>
</cp:coreProperties>
</file>